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embeddedFontLst>
    <p:embeddedFont>
      <p:font typeface="Lato" panose="020F0502020204030203" pitchFamily="34" charset="0"/>
      <p:regular r:id="rId21"/>
      <p:bold r:id="rId22"/>
      <p:italic r:id="rId23"/>
      <p:boldItalic r:id="rId24"/>
    </p:embeddedFont>
    <p:embeddedFont>
      <p:font typeface="Poppins" panose="00000500000000000000" pitchFamily="2" charset="0"/>
      <p:regular r:id="rId25"/>
      <p:bold r:id="rId26"/>
      <p:italic r:id="rId27"/>
      <p:boldItalic r:id="rId28"/>
    </p:embeddedFont>
    <p:embeddedFont>
      <p:font typeface="Poppins SemiBold" panose="000007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225E2EE-A203-490D-9E88-24966818BAD0}">
  <a:tblStyle styleId="{C225E2EE-A203-490D-9E88-24966818BAD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4.png"/><Relationship Id="rId5" Type="http://schemas.openxmlformats.org/officeDocument/2006/relationships/image" Target="../media/image9.png"/><Relationship Id="rId10" Type="http://schemas.openxmlformats.org/officeDocument/2006/relationships/image" Target="../media/image2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29.png"/><Relationship Id="rId5" Type="http://schemas.openxmlformats.org/officeDocument/2006/relationships/image" Target="../media/image25.png"/><Relationship Id="rId10" Type="http://schemas.openxmlformats.org/officeDocument/2006/relationships/image" Target="../media/image28.png"/><Relationship Id="rId4" Type="http://schemas.openxmlformats.org/officeDocument/2006/relationships/image" Target="../media/image24.png"/><Relationship Id="rId9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2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2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5.png"/><Relationship Id="rId3" Type="http://schemas.openxmlformats.org/officeDocument/2006/relationships/image" Target="../media/image3.png"/><Relationship Id="rId7" Type="http://schemas.openxmlformats.org/officeDocument/2006/relationships/image" Target="../media/image40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17.png"/><Relationship Id="rId9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2.png"/><Relationship Id="rId4" Type="http://schemas.openxmlformats.org/officeDocument/2006/relationships/image" Target="../media/image5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17.png"/><Relationship Id="rId9" Type="http://schemas.openxmlformats.org/officeDocument/2006/relationships/image" Target="../media/image6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59469" y="2844781"/>
            <a:ext cx="5947149" cy="132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Swiggy Data Analysis </a:t>
            </a:r>
            <a:r>
              <a:rPr lang="en-US" sz="3750" b="0" i="0" u="none" strike="noStrike" cap="none" dirty="0">
                <a:solidFill>
                  <a:srgbClr val="FF52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Sales Dashboard</a:t>
            </a:r>
            <a:endParaRPr dirty="0">
              <a:solidFill>
                <a:srgbClr val="FF5200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010347" y="4995433"/>
            <a:ext cx="7848749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dirty="0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Converted</a:t>
            </a:r>
            <a:r>
              <a:rPr lang="en-US" sz="1650" b="0" i="0" u="none" strike="noStrike" cap="none" dirty="0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 Raw Data into An Interactive Dashboard &amp; Extracted Meaningful Insights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4182607" y="4431727"/>
            <a:ext cx="871686" cy="22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FF5200"/>
                </a:solidFill>
                <a:latin typeface="Lato"/>
                <a:ea typeface="Lato"/>
                <a:cs typeface="Lato"/>
                <a:sym typeface="Lato"/>
              </a:rPr>
              <a:t>PREPARED BY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3844413" y="4683899"/>
            <a:ext cx="1685727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Aditya Vishwakarma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5934722" y="4431727"/>
            <a:ext cx="1768971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FF5200"/>
                </a:solidFill>
                <a:latin typeface="Lato"/>
                <a:ea typeface="Lato"/>
                <a:cs typeface="Lato"/>
                <a:sym typeface="Lato"/>
              </a:rPr>
              <a:t>ROLE</a:t>
            </a:r>
            <a:endParaRPr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5777376" y="4701148"/>
            <a:ext cx="2452224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Aspiring Data/Business Analyst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0D4412-5C48-09EC-34E7-0EFC09A6A8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80" y="300496"/>
            <a:ext cx="2015222" cy="5871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C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700337"/>
            <a:ext cx="532447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700337"/>
            <a:ext cx="532447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0879484" y="476250"/>
            <a:ext cx="73149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5B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Roadmap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76300" y="2995612"/>
            <a:ext cx="497062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52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Foundation &amp; Setup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76300" y="3405187"/>
            <a:ext cx="4733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Understanding the food-tech business case, evaluating raw CSV transactional logs, and structuring Excel data sheets.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76300" y="3976687"/>
            <a:ext cx="4733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Covers dynamic table normalization and calculated feature transformations.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581775" y="2995612"/>
            <a:ext cx="497062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52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Logic &amp; Visualization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581775" y="3405187"/>
            <a:ext cx="4733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Implementing advanced formula bypasses (OFFSET), dynamic charts, interactive slicer clusters, and reporting metrics.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581775" y="3976687"/>
            <a:ext cx="4733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Concludes with key regional takeaways and portfolio recommendations.</a:t>
            </a:r>
            <a:endParaRPr/>
          </a:p>
        </p:txBody>
      </p:sp>
      <p:pic>
        <p:nvPicPr>
          <p:cNvPr id="107" name="Google Shape;10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6300" y="3005137"/>
            <a:ext cx="1143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1775" y="3005137"/>
            <a:ext cx="1524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760572" y="1094924"/>
            <a:ext cx="508634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Agenda &amp; Project Milestones</a:t>
            </a:r>
            <a:endParaRPr dirty="0"/>
          </a:p>
        </p:txBody>
      </p:sp>
      <p:sp>
        <p:nvSpPr>
          <p:cNvPr id="110" name="Google Shape;110;p14"/>
          <p:cNvSpPr/>
          <p:nvPr/>
        </p:nvSpPr>
        <p:spPr>
          <a:xfrm>
            <a:off x="581025" y="1095379"/>
            <a:ext cx="47625" cy="400050"/>
          </a:xfrm>
          <a:prstGeom prst="rect">
            <a:avLst/>
          </a:prstGeom>
          <a:solidFill>
            <a:srgbClr val="FF52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2DDC84-6E14-E321-0AA0-B92320C900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168" y="108519"/>
            <a:ext cx="2015222" cy="587112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BE2D3E4C-21F8-1387-0B38-6278A83AEF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2722" y="442912"/>
            <a:ext cx="209550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C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10479137" y="476250"/>
            <a:ext cx="113183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5B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Project Catalyst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81025" y="2624137"/>
            <a:ext cx="559069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52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Challenge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286500" y="2738437"/>
            <a:ext cx="559069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52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Our Core Project Goals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14400" y="3033712"/>
            <a:ext cx="4991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High Data Volume:</a:t>
            </a:r>
            <a:r>
              <a:rPr lang="en-US" sz="1200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 Swiggy processes millions of transactions daily across multiple states and menus.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914400" y="3662362"/>
            <a:ext cx="4991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Operational Gaps:</a:t>
            </a:r>
            <a:r>
              <a:rPr lang="en-US" sz="1200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 Siloed databases hid critical information about peak order timings and low-performing regions.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914400" y="4291012"/>
            <a:ext cx="4991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Immediate Needs:</a:t>
            </a:r>
            <a:r>
              <a:rPr lang="en-US" sz="1200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 Decision-makers required a lightweight, zero-overhead analytical sandbox to map trends.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619875" y="3148012"/>
            <a:ext cx="4991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Unified KPI Views:</a:t>
            </a:r>
            <a:r>
              <a:rPr lang="en-US" sz="1200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 Display 5+ key metrics (Sales, Orders, Ratings) instantly.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619875" y="3776662"/>
            <a:ext cx="4991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Visual Granularity:</a:t>
            </a:r>
            <a:r>
              <a:rPr lang="en-US" sz="1200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 Build 6+ interactive visuals to deep-dive into sales segments.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619875" y="4405312"/>
            <a:ext cx="4991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Responsive Filtering:</a:t>
            </a:r>
            <a:r>
              <a:rPr lang="en-US" sz="1200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 Create a polished interface with linked slicers.</a:t>
            </a:r>
            <a:endParaRPr/>
          </a:p>
        </p:txBody>
      </p:sp>
      <p:pic>
        <p:nvPicPr>
          <p:cNvPr id="126" name="Google Shape;12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0670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695700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3243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0" y="31813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86500" y="3810000"/>
            <a:ext cx="1333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86500" y="4438650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723900" y="1046210"/>
            <a:ext cx="1143142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Strategic Problem &amp; Goals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581025" y="1046210"/>
            <a:ext cx="47625" cy="400050"/>
          </a:xfrm>
          <a:prstGeom prst="rect">
            <a:avLst/>
          </a:prstGeom>
          <a:solidFill>
            <a:srgbClr val="FF52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8F08EC-4989-0301-9A75-B59B9F38363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5168" y="108519"/>
            <a:ext cx="2015222" cy="587112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34FD7170-394B-6EF4-3B88-6FBC70FB9EB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79767" y="442912"/>
            <a:ext cx="209550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C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02668"/>
            <a:ext cx="11029950" cy="266223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10708927" y="476250"/>
            <a:ext cx="90204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5B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Source Data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581025" y="5107781"/>
            <a:ext cx="110299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F5200"/>
                </a:solidFill>
                <a:latin typeface="Arial"/>
                <a:ea typeface="Arial"/>
                <a:cs typeface="Arial"/>
                <a:sym typeface="Arial"/>
              </a:rPr>
              <a:t>Data Validation Reference: Screenshot 2026-06-18 141224.png</a:t>
            </a:r>
            <a:endParaRPr/>
          </a:p>
        </p:txBody>
      </p:sp>
      <p:graphicFrame>
        <p:nvGraphicFramePr>
          <p:cNvPr id="143" name="Google Shape;143;p16"/>
          <p:cNvGraphicFramePr/>
          <p:nvPr/>
        </p:nvGraphicFramePr>
        <p:xfrm>
          <a:off x="590550" y="2312193"/>
          <a:ext cx="11010900" cy="2643150"/>
        </p:xfrm>
        <a:graphic>
          <a:graphicData uri="http://schemas.openxmlformats.org/drawingml/2006/table">
            <a:tbl>
              <a:tblPr firstRow="1" bandRow="1">
                <a:noFill/>
                <a:tableStyleId>{C225E2EE-A203-490D-9E88-24966818BAD0}</a:tableStyleId>
              </a:tblPr>
              <a:tblGrid>
                <a:gridCol w="302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Field 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1E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Target Scope / Content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1E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Sample Structural Record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1E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State / City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Regional demographics of the delivery area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Karnataka / Bengaluru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Order Date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8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Temporal marker for tracking seasonality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8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12-05-2025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8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Restaurant / Dish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Merchant identifier and item details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KFC / Hot &amp; Crispy Chicken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Food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8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Dietary classification (essential demographic segment)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8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Veg / Non-Veg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8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Price / Rating / Rating Count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Product transaction values, scores, and review density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₹299.00 / 4.33 Stars / 0.08 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4" name="Google Shape;144;p16"/>
          <p:cNvSpPr/>
          <p:nvPr/>
        </p:nvSpPr>
        <p:spPr>
          <a:xfrm>
            <a:off x="590550" y="2745581"/>
            <a:ext cx="3022401" cy="19050"/>
          </a:xfrm>
          <a:prstGeom prst="rect">
            <a:avLst/>
          </a:prstGeom>
          <a:solidFill>
            <a:srgbClr val="2D31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3612951" y="2745581"/>
            <a:ext cx="5030241" cy="19050"/>
          </a:xfrm>
          <a:prstGeom prst="rect">
            <a:avLst/>
          </a:prstGeom>
          <a:solidFill>
            <a:srgbClr val="2D31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8643193" y="2745581"/>
            <a:ext cx="2958256" cy="19050"/>
          </a:xfrm>
          <a:prstGeom prst="rect">
            <a:avLst/>
          </a:prstGeom>
          <a:solidFill>
            <a:srgbClr val="2D31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590550" y="3198018"/>
            <a:ext cx="3022401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3612951" y="3198018"/>
            <a:ext cx="5030241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8643193" y="3198018"/>
            <a:ext cx="2958256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590550" y="3636168"/>
            <a:ext cx="3022401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3612951" y="3636168"/>
            <a:ext cx="5030241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8643193" y="3636168"/>
            <a:ext cx="2958256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590550" y="4074318"/>
            <a:ext cx="3022401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3612951" y="4074318"/>
            <a:ext cx="5030241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8643193" y="4074318"/>
            <a:ext cx="2958256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590550" y="4512468"/>
            <a:ext cx="3022401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3612951" y="4512468"/>
            <a:ext cx="5030241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8643193" y="4512468"/>
            <a:ext cx="2958256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723900" y="1046211"/>
            <a:ext cx="1143142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Dataset Under the Microscope</a:t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581025" y="1046211"/>
            <a:ext cx="47625" cy="400050"/>
          </a:xfrm>
          <a:prstGeom prst="rect">
            <a:avLst/>
          </a:prstGeom>
          <a:solidFill>
            <a:srgbClr val="FF52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33AED3-457C-F157-CF67-48917A2B0D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168" y="108519"/>
            <a:ext cx="2015222" cy="587112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C53144C4-9F70-A7A5-52D5-BCFF64F772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9861" y="454818"/>
            <a:ext cx="180975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C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719387"/>
            <a:ext cx="3517850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7000" y="2719387"/>
            <a:ext cx="3517850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2975" y="2719387"/>
            <a:ext cx="3517850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10807749" y="476250"/>
            <a:ext cx="8032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5B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ETL Phase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828675" y="3462337"/>
            <a:ext cx="172271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CSV Integration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828675" y="3776662"/>
            <a:ext cx="3022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Imported raw transactional logs cleanly into standard Excel grids to enable parsing.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4584650" y="3462337"/>
            <a:ext cx="2308971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Structured Table</a:t>
            </a:r>
            <a:endParaRPr dirty="0"/>
          </a:p>
        </p:txBody>
      </p:sp>
      <p:sp>
        <p:nvSpPr>
          <p:cNvPr id="174" name="Google Shape;174;p17"/>
          <p:cNvSpPr txBox="1"/>
          <p:nvPr/>
        </p:nvSpPr>
        <p:spPr>
          <a:xfrm>
            <a:off x="4584650" y="3776662"/>
            <a:ext cx="30225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Converted range formatting via 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Ctrl + T</a:t>
            </a:r>
            <a:r>
              <a:rPr lang="en-US" sz="1200" b="0" i="0" u="none" strike="noStrike" cap="none" dirty="0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 shortcut, defining structured references as "</a:t>
            </a:r>
            <a:r>
              <a:rPr lang="en-US" sz="1200" b="0" i="0" u="none" strike="noStrike" cap="none" dirty="0" err="1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Swiggy_Data</a:t>
            </a:r>
            <a:r>
              <a:rPr lang="en-US" sz="1200" b="0" i="0" u="none" strike="noStrike" cap="none" dirty="0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".</a:t>
            </a:r>
            <a:endParaRPr dirty="0"/>
          </a:p>
        </p:txBody>
      </p:sp>
      <p:sp>
        <p:nvSpPr>
          <p:cNvPr id="175" name="Google Shape;175;p17"/>
          <p:cNvSpPr txBox="1"/>
          <p:nvPr/>
        </p:nvSpPr>
        <p:spPr>
          <a:xfrm>
            <a:off x="8340625" y="3462337"/>
            <a:ext cx="21316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Dynamic Scaling</a:t>
            </a:r>
            <a:endParaRPr dirty="0"/>
          </a:p>
        </p:txBody>
      </p:sp>
      <p:sp>
        <p:nvSpPr>
          <p:cNvPr id="176" name="Google Shape;176;p17"/>
          <p:cNvSpPr txBox="1"/>
          <p:nvPr/>
        </p:nvSpPr>
        <p:spPr>
          <a:xfrm>
            <a:off x="8340625" y="3776662"/>
            <a:ext cx="30225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Ensured pivot sheets and charts scale instantly when new transaction rows are added.</a:t>
            </a:r>
            <a:endParaRPr/>
          </a:p>
        </p:txBody>
      </p:sp>
      <p:pic>
        <p:nvPicPr>
          <p:cNvPr id="177" name="Google Shape;17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8675" y="297656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84650" y="297656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40625" y="2976562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 txBox="1"/>
          <p:nvPr/>
        </p:nvSpPr>
        <p:spPr>
          <a:xfrm>
            <a:off x="723900" y="1183867"/>
            <a:ext cx="1143142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 Preparation (ETL Process)</a:t>
            </a:r>
            <a:endParaRPr dirty="0"/>
          </a:p>
        </p:txBody>
      </p:sp>
      <p:sp>
        <p:nvSpPr>
          <p:cNvPr id="181" name="Google Shape;181;p17"/>
          <p:cNvSpPr/>
          <p:nvPr/>
        </p:nvSpPr>
        <p:spPr>
          <a:xfrm>
            <a:off x="581025" y="1183867"/>
            <a:ext cx="47625" cy="400050"/>
          </a:xfrm>
          <a:prstGeom prst="rect">
            <a:avLst/>
          </a:prstGeom>
          <a:solidFill>
            <a:srgbClr val="FF52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402D9E-9DB1-25CA-D3C8-947DBE1262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168" y="108519"/>
            <a:ext cx="2015222" cy="587112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9F82CD63-48FA-0B45-E3F6-30E1A13042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72225" y="466724"/>
            <a:ext cx="266700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C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088481"/>
            <a:ext cx="11029950" cy="1785937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 txBox="1"/>
          <p:nvPr/>
        </p:nvSpPr>
        <p:spPr>
          <a:xfrm>
            <a:off x="10516492" y="476250"/>
            <a:ext cx="1094482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5B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Transformation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581025" y="2669381"/>
            <a:ext cx="11029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Generated custom columns within the raw table to support deep-dive seasonality checks:</a:t>
            </a:r>
            <a:endParaRPr/>
          </a:p>
        </p:txBody>
      </p:sp>
      <p:graphicFrame>
        <p:nvGraphicFramePr>
          <p:cNvPr id="191" name="Google Shape;191;p18"/>
          <p:cNvGraphicFramePr/>
          <p:nvPr/>
        </p:nvGraphicFramePr>
        <p:xfrm>
          <a:off x="590550" y="3098006"/>
          <a:ext cx="11010925" cy="1766900"/>
        </p:xfrm>
        <a:graphic>
          <a:graphicData uri="http://schemas.openxmlformats.org/drawingml/2006/table">
            <a:tbl>
              <a:tblPr firstRow="1" bandRow="1">
                <a:noFill/>
                <a:tableStyleId>{C225E2EE-A203-490D-9E88-24966818BAD0}</a:tableStyleId>
              </a:tblPr>
              <a:tblGrid>
                <a:gridCol w="177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1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Target Column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1E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Specific Excel Formula Utilized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1E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Strategic Business Value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1E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Month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=TEXT(Order_Date, "mmm")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Tracks monthly revenue spikes and promotional cycles.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8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=TEXT(Order_Date, "ddd")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8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Identifies weekday vs weekend sales volume splits.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8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Quarter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="Q"&amp;ROUNDUP(MONTH(Order_Date)/3,0)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Aggregates operational trends into quarterly board reviews.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2" name="Google Shape;192;p18"/>
          <p:cNvSpPr/>
          <p:nvPr/>
        </p:nvSpPr>
        <p:spPr>
          <a:xfrm>
            <a:off x="590550" y="3531393"/>
            <a:ext cx="1772691" cy="19050"/>
          </a:xfrm>
          <a:prstGeom prst="rect">
            <a:avLst/>
          </a:prstGeom>
          <a:solidFill>
            <a:srgbClr val="2D31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2363241" y="3531393"/>
            <a:ext cx="4157513" cy="19050"/>
          </a:xfrm>
          <a:prstGeom prst="rect">
            <a:avLst/>
          </a:prstGeom>
          <a:solidFill>
            <a:srgbClr val="2D31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6520755" y="3531393"/>
            <a:ext cx="5080694" cy="19050"/>
          </a:xfrm>
          <a:prstGeom prst="rect">
            <a:avLst/>
          </a:prstGeom>
          <a:solidFill>
            <a:srgbClr val="2D31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590550" y="3983831"/>
            <a:ext cx="1772691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2363241" y="3983831"/>
            <a:ext cx="4157513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6520755" y="3983831"/>
            <a:ext cx="5080694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590550" y="4421981"/>
            <a:ext cx="1772691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2363241" y="4421981"/>
            <a:ext cx="4157513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6520755" y="4421981"/>
            <a:ext cx="5080694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 txBox="1"/>
          <p:nvPr/>
        </p:nvSpPr>
        <p:spPr>
          <a:xfrm>
            <a:off x="723900" y="1065879"/>
            <a:ext cx="1143142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 Transformation Formulas</a:t>
            </a:r>
            <a:endParaRPr/>
          </a:p>
        </p:txBody>
      </p:sp>
      <p:sp>
        <p:nvSpPr>
          <p:cNvPr id="202" name="Google Shape;202;p18"/>
          <p:cNvSpPr/>
          <p:nvPr/>
        </p:nvSpPr>
        <p:spPr>
          <a:xfrm>
            <a:off x="581025" y="1065879"/>
            <a:ext cx="47625" cy="400050"/>
          </a:xfrm>
          <a:prstGeom prst="rect">
            <a:avLst/>
          </a:prstGeom>
          <a:solidFill>
            <a:srgbClr val="FF52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FA2692-BF2D-F493-612D-B340FD475F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168" y="108519"/>
            <a:ext cx="2015222" cy="587112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C9A85184-34BB-47A7-6F7C-F420DAC9CB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0968" y="442912"/>
            <a:ext cx="266700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C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9"/>
          <p:cNvSpPr txBox="1"/>
          <p:nvPr/>
        </p:nvSpPr>
        <p:spPr>
          <a:xfrm>
            <a:off x="10827543" y="476250"/>
            <a:ext cx="783431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5B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KPI Scope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914400" y="2543175"/>
            <a:ext cx="4991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Total Sales:</a:t>
            </a:r>
            <a:r>
              <a:rPr lang="en-US" sz="1200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 Overall revenue generated from food orders across all restaurants.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914400" y="3171825"/>
            <a:ext cx="4991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Total Orders:</a:t>
            </a:r>
            <a:r>
              <a:rPr lang="en-US" sz="1200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 Total number of customer orders received.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914400" y="3571875"/>
            <a:ext cx="4991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Average Order Value:</a:t>
            </a:r>
            <a:r>
              <a:rPr lang="en-US" sz="1200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 Average revenue earned per order.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914400" y="3971925"/>
            <a:ext cx="4991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Average Rating:</a:t>
            </a:r>
            <a:r>
              <a:rPr lang="en-US" sz="1200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 Average customer satisfaction rating across all restaurants.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914400" y="4600575"/>
            <a:ext cx="4991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Rating Count:</a:t>
            </a:r>
            <a:r>
              <a:rPr lang="en-US" sz="1200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 Total number of customer reviews and ratings received.</a:t>
            </a:r>
            <a:endParaRPr/>
          </a:p>
        </p:txBody>
      </p:sp>
      <p:pic>
        <p:nvPicPr>
          <p:cNvPr id="217" name="Google Shape;21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76512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205162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605212"/>
            <a:ext cx="1333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005262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4633912"/>
            <a:ext cx="2190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9"/>
          <p:cNvSpPr txBox="1"/>
          <p:nvPr/>
        </p:nvSpPr>
        <p:spPr>
          <a:xfrm>
            <a:off x="723900" y="1105209"/>
            <a:ext cx="1143142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Analytical Focus: KPI Problem Statements</a:t>
            </a:r>
            <a:endParaRPr/>
          </a:p>
        </p:txBody>
      </p:sp>
      <p:sp>
        <p:nvSpPr>
          <p:cNvPr id="223" name="Google Shape;223;p19"/>
          <p:cNvSpPr/>
          <p:nvPr/>
        </p:nvSpPr>
        <p:spPr>
          <a:xfrm>
            <a:off x="581025" y="1105209"/>
            <a:ext cx="47625" cy="400050"/>
          </a:xfrm>
          <a:prstGeom prst="rect">
            <a:avLst/>
          </a:prstGeom>
          <a:solidFill>
            <a:srgbClr val="FF52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E2FA42-A49A-E30E-F08A-AA4F1FA8844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5168" y="108519"/>
            <a:ext cx="2015222" cy="587112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B6E54E01-1309-E22E-DD28-BEE5B8F05B9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96868" y="439075"/>
            <a:ext cx="161925" cy="219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986F62-8F08-2BB2-3169-D052F7D1495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54660" y="1947710"/>
            <a:ext cx="5983863" cy="3619499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C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21743"/>
            <a:ext cx="11029950" cy="2224087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0"/>
          <p:cNvSpPr txBox="1"/>
          <p:nvPr/>
        </p:nvSpPr>
        <p:spPr>
          <a:xfrm>
            <a:off x="11020127" y="476250"/>
            <a:ext cx="59084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5B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Metrics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581025" y="4888706"/>
            <a:ext cx="110299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F5200"/>
                </a:solidFill>
                <a:latin typeface="Arial"/>
                <a:ea typeface="Arial"/>
                <a:cs typeface="Arial"/>
                <a:sym typeface="Arial"/>
              </a:rPr>
              <a:t>Analytical Architecture Reference: Screenshot 2026-06-18 140901.png</a:t>
            </a:r>
            <a:endParaRPr/>
          </a:p>
        </p:txBody>
      </p:sp>
      <p:graphicFrame>
        <p:nvGraphicFramePr>
          <p:cNvPr id="233" name="Google Shape;233;p20"/>
          <p:cNvGraphicFramePr/>
          <p:nvPr/>
        </p:nvGraphicFramePr>
        <p:xfrm>
          <a:off x="590550" y="2531268"/>
          <a:ext cx="11010900" cy="2205000"/>
        </p:xfrm>
        <a:graphic>
          <a:graphicData uri="http://schemas.openxmlformats.org/drawingml/2006/table">
            <a:tbl>
              <a:tblPr firstRow="1" bandRow="1">
                <a:noFill/>
                <a:tableStyleId>{C225E2EE-A203-490D-9E88-24966818BAD0}</a:tableStyleId>
              </a:tblPr>
              <a:tblGrid>
                <a:gridCol w="215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7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Target KPI Card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1E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Source Column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1E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Aggregation Logic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1E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Business Value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1E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 Sales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Price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Tracks overall operational revenue (Gross Transaction Value).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 Orders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8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State / Order 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8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COUNT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8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Monitors total volume scale and logistics load.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8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Average Order Value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Price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AVERAGE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Tracks spending habits and cart size fluctuations.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Avg Customer Rating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8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Rating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8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AVERAGE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8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Measures overall platform and delivery quality levels.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8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4" name="Google Shape;234;p20"/>
          <p:cNvSpPr/>
          <p:nvPr/>
        </p:nvSpPr>
        <p:spPr>
          <a:xfrm>
            <a:off x="590550" y="2964656"/>
            <a:ext cx="2152650" cy="19050"/>
          </a:xfrm>
          <a:prstGeom prst="rect">
            <a:avLst/>
          </a:prstGeom>
          <a:solidFill>
            <a:srgbClr val="2D31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2743200" y="2964656"/>
            <a:ext cx="1769864" cy="19050"/>
          </a:xfrm>
          <a:prstGeom prst="rect">
            <a:avLst/>
          </a:prstGeom>
          <a:solidFill>
            <a:srgbClr val="2D31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4513064" y="2964656"/>
            <a:ext cx="2030759" cy="19050"/>
          </a:xfrm>
          <a:prstGeom prst="rect">
            <a:avLst/>
          </a:prstGeom>
          <a:solidFill>
            <a:srgbClr val="2D31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6543823" y="2964656"/>
            <a:ext cx="5057626" cy="19050"/>
          </a:xfrm>
          <a:prstGeom prst="rect">
            <a:avLst/>
          </a:prstGeom>
          <a:solidFill>
            <a:srgbClr val="2D31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590550" y="3417093"/>
            <a:ext cx="2152650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2743200" y="3417093"/>
            <a:ext cx="1769864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4513064" y="3417093"/>
            <a:ext cx="2030759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6543823" y="3417093"/>
            <a:ext cx="5057626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590550" y="3855243"/>
            <a:ext cx="2152650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2743200" y="3855243"/>
            <a:ext cx="1769864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4513064" y="3855243"/>
            <a:ext cx="2030759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6543823" y="3855243"/>
            <a:ext cx="5057626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590550" y="4293393"/>
            <a:ext cx="2152650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2743200" y="4293393"/>
            <a:ext cx="1769864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4513064" y="4293393"/>
            <a:ext cx="2030759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6543823" y="4293393"/>
            <a:ext cx="5057626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723900" y="1065879"/>
            <a:ext cx="1143142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KPI Architecture Design</a:t>
            </a:r>
            <a:endParaRPr/>
          </a:p>
        </p:txBody>
      </p:sp>
      <p:sp>
        <p:nvSpPr>
          <p:cNvPr id="251" name="Google Shape;251;p20"/>
          <p:cNvSpPr/>
          <p:nvPr/>
        </p:nvSpPr>
        <p:spPr>
          <a:xfrm>
            <a:off x="581025" y="1065879"/>
            <a:ext cx="47625" cy="400050"/>
          </a:xfrm>
          <a:prstGeom prst="rect">
            <a:avLst/>
          </a:prstGeom>
          <a:solidFill>
            <a:srgbClr val="FF52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1B9EF4-F701-5979-D199-A3E301BEFA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168" y="108519"/>
            <a:ext cx="2015222" cy="587112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8E7B1297-1FA8-1737-454D-E2E6F939C6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3682" y="452744"/>
            <a:ext cx="161925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C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869281"/>
            <a:ext cx="11029950" cy="3500437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1"/>
          <p:cNvSpPr txBox="1"/>
          <p:nvPr/>
        </p:nvSpPr>
        <p:spPr>
          <a:xfrm>
            <a:off x="10718750" y="476250"/>
            <a:ext cx="892224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5B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Visual Story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581025" y="5445918"/>
            <a:ext cx="110299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F5200"/>
                </a:solidFill>
                <a:latin typeface="Arial"/>
                <a:ea typeface="Arial"/>
                <a:cs typeface="Arial"/>
                <a:sym typeface="Arial"/>
              </a:rPr>
              <a:t>Execution Reference: Screenshot 2026-06-18 141852.png &amp; Screenshot 2026-06-18 141304.png</a:t>
            </a:r>
            <a:endParaRPr/>
          </a:p>
        </p:txBody>
      </p:sp>
      <p:graphicFrame>
        <p:nvGraphicFramePr>
          <p:cNvPr id="261" name="Google Shape;261;p21"/>
          <p:cNvGraphicFramePr/>
          <p:nvPr/>
        </p:nvGraphicFramePr>
        <p:xfrm>
          <a:off x="590550" y="1878806"/>
          <a:ext cx="11010900" cy="3481400"/>
        </p:xfrm>
        <a:graphic>
          <a:graphicData uri="http://schemas.openxmlformats.org/drawingml/2006/table">
            <a:tbl>
              <a:tblPr firstRow="1" bandRow="1">
                <a:noFill/>
                <a:tableStyleId>{C225E2EE-A203-490D-9E88-24966818BAD0}</a:tableStyleId>
              </a:tblPr>
              <a:tblGrid>
                <a:gridCol w="330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5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Chart Category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1E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Problem Statement &amp; Analytical Focus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1E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Dashboard Visual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1E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Monthly Sales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Shows monthly sales performance and trend analysis.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Dynamic Line Chart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Daily Sales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8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Highlights day-wise sales fluctuations across the week.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8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Column Chart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8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Sales by Food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Compares revenue contribution between Veg and Non-Veg categories.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Balanced Donut Chart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Top 10 Restaurant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8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Identifies restaurants generating the highest sales revenue.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8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Treemap Visualization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8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5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Regional Sales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Displays state-wise revenue distribution using map visualization.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Dynamic India Map Chart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5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Quarter-wise Performance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8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Provides quarterly comparison of sales, ratings, and orders.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8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Performance Data Table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8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5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Top 5 Cities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Displays cities contributing the highest sales revenue.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Horizontal Bar Chart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62" name="Google Shape;262;p21"/>
          <p:cNvSpPr/>
          <p:nvPr/>
        </p:nvSpPr>
        <p:spPr>
          <a:xfrm>
            <a:off x="590550" y="2274093"/>
            <a:ext cx="3303240" cy="19050"/>
          </a:xfrm>
          <a:prstGeom prst="rect">
            <a:avLst/>
          </a:prstGeom>
          <a:solidFill>
            <a:srgbClr val="2D31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3893790" y="2274093"/>
            <a:ext cx="4954785" cy="19050"/>
          </a:xfrm>
          <a:prstGeom prst="rect">
            <a:avLst/>
          </a:prstGeom>
          <a:solidFill>
            <a:srgbClr val="2D31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8848576" y="2274093"/>
            <a:ext cx="2752873" cy="19050"/>
          </a:xfrm>
          <a:prstGeom prst="rect">
            <a:avLst/>
          </a:prstGeom>
          <a:solidFill>
            <a:srgbClr val="2D31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590550" y="2726531"/>
            <a:ext cx="3303240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3893790" y="2726531"/>
            <a:ext cx="4954785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8848576" y="2726531"/>
            <a:ext cx="2752873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590550" y="3164681"/>
            <a:ext cx="3303240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3893790" y="3164681"/>
            <a:ext cx="4954785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8848576" y="3164681"/>
            <a:ext cx="2752873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590550" y="3602831"/>
            <a:ext cx="3303240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3893790" y="3602831"/>
            <a:ext cx="4954785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8848576" y="3602831"/>
            <a:ext cx="2752873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590550" y="4040981"/>
            <a:ext cx="3303240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3893790" y="4040981"/>
            <a:ext cx="4954785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8848576" y="4040981"/>
            <a:ext cx="2752873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590550" y="4479131"/>
            <a:ext cx="3303240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1"/>
          <p:cNvSpPr/>
          <p:nvPr/>
        </p:nvSpPr>
        <p:spPr>
          <a:xfrm>
            <a:off x="3893790" y="4479131"/>
            <a:ext cx="4954785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1"/>
          <p:cNvSpPr/>
          <p:nvPr/>
        </p:nvSpPr>
        <p:spPr>
          <a:xfrm>
            <a:off x="8848576" y="4479131"/>
            <a:ext cx="2752873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590550" y="4917281"/>
            <a:ext cx="3303240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3893790" y="4917281"/>
            <a:ext cx="4954785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8848576" y="4917281"/>
            <a:ext cx="2752873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723900" y="1036379"/>
            <a:ext cx="1143142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Analytical Focus: Chart Problem Statements</a:t>
            </a:r>
            <a:endParaRPr/>
          </a:p>
        </p:txBody>
      </p:sp>
      <p:sp>
        <p:nvSpPr>
          <p:cNvPr id="284" name="Google Shape;284;p21"/>
          <p:cNvSpPr/>
          <p:nvPr/>
        </p:nvSpPr>
        <p:spPr>
          <a:xfrm>
            <a:off x="581025" y="1036379"/>
            <a:ext cx="47625" cy="400050"/>
          </a:xfrm>
          <a:prstGeom prst="rect">
            <a:avLst/>
          </a:prstGeom>
          <a:solidFill>
            <a:srgbClr val="FF52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1E681E-3EBF-25CA-B5AF-14B1C18DE4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168" y="108519"/>
            <a:ext cx="2015222" cy="587112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65C9046A-8C57-BCB7-E45F-4C7F695329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1465" y="452744"/>
            <a:ext cx="238125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C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09837"/>
            <a:ext cx="5324475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509837"/>
            <a:ext cx="5324475" cy="252412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2"/>
          <p:cNvSpPr txBox="1"/>
          <p:nvPr/>
        </p:nvSpPr>
        <p:spPr>
          <a:xfrm>
            <a:off x="10464254" y="476250"/>
            <a:ext cx="114672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5B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Advanced Excel</a:t>
            </a:r>
            <a:endParaRPr/>
          </a:p>
        </p:txBody>
      </p:sp>
      <p:sp>
        <p:nvSpPr>
          <p:cNvPr id="294" name="Google Shape;294;p22"/>
          <p:cNvSpPr txBox="1"/>
          <p:nvPr/>
        </p:nvSpPr>
        <p:spPr>
          <a:xfrm>
            <a:off x="876300" y="2805112"/>
            <a:ext cx="497062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52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Technical Limitation</a:t>
            </a:r>
            <a:endParaRPr/>
          </a:p>
        </p:txBody>
      </p:sp>
      <p:sp>
        <p:nvSpPr>
          <p:cNvPr id="295" name="Google Shape;295;p22"/>
          <p:cNvSpPr txBox="1"/>
          <p:nvPr/>
        </p:nvSpPr>
        <p:spPr>
          <a:xfrm>
            <a:off x="876300" y="3214687"/>
            <a:ext cx="4733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By default, Map Charts and Treemaps in Excel cannot connect directly to Pivot Tables.</a:t>
            </a:r>
            <a:endParaRPr/>
          </a:p>
        </p:txBody>
      </p:sp>
      <p:sp>
        <p:nvSpPr>
          <p:cNvPr id="296" name="Google Shape;296;p22"/>
          <p:cNvSpPr txBox="1"/>
          <p:nvPr/>
        </p:nvSpPr>
        <p:spPr>
          <a:xfrm>
            <a:off x="876300" y="3786187"/>
            <a:ext cx="4733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This limitation blocks real-time dynamic updates when users click on slicer filters.</a:t>
            </a:r>
            <a:endParaRPr/>
          </a:p>
        </p:txBody>
      </p:sp>
      <p:sp>
        <p:nvSpPr>
          <p:cNvPr id="297" name="Google Shape;297;p22"/>
          <p:cNvSpPr txBox="1"/>
          <p:nvPr/>
        </p:nvSpPr>
        <p:spPr>
          <a:xfrm>
            <a:off x="6581775" y="2805112"/>
            <a:ext cx="497062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52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Dynamic Bypass</a:t>
            </a: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6581775" y="3214687"/>
            <a:ext cx="4733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Constructed a dynamic mirror range next to the Pivot Table using </a:t>
            </a:r>
            <a:r>
              <a:rPr lang="en-US" sz="12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OFFSET</a:t>
            </a:r>
            <a:r>
              <a:rPr lang="en-US" sz="1200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lang="en-US" sz="12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COUNTA</a:t>
            </a:r>
            <a:r>
              <a:rPr lang="en-US" sz="1200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/>
          </a:p>
        </p:txBody>
      </p:sp>
      <p:sp>
        <p:nvSpPr>
          <p:cNvPr id="299" name="Google Shape;299;p22"/>
          <p:cNvSpPr txBox="1"/>
          <p:nvPr/>
        </p:nvSpPr>
        <p:spPr>
          <a:xfrm>
            <a:off x="6581775" y="4224337"/>
            <a:ext cx="47339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Ensures all charts update automatically when filters change, avoiding manual copy-pasting.</a:t>
            </a:r>
            <a:endParaRPr/>
          </a:p>
        </p:txBody>
      </p:sp>
      <p:sp>
        <p:nvSpPr>
          <p:cNvPr id="300" name="Google Shape;300;p22"/>
          <p:cNvSpPr txBox="1"/>
          <p:nvPr/>
        </p:nvSpPr>
        <p:spPr>
          <a:xfrm>
            <a:off x="723900" y="1252695"/>
            <a:ext cx="1143142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OFFSET Formula Logic</a:t>
            </a:r>
            <a:endParaRPr/>
          </a:p>
        </p:txBody>
      </p:sp>
      <p:sp>
        <p:nvSpPr>
          <p:cNvPr id="301" name="Google Shape;301;p22"/>
          <p:cNvSpPr/>
          <p:nvPr/>
        </p:nvSpPr>
        <p:spPr>
          <a:xfrm>
            <a:off x="581025" y="1252695"/>
            <a:ext cx="47625" cy="400050"/>
          </a:xfrm>
          <a:prstGeom prst="rect">
            <a:avLst/>
          </a:prstGeom>
          <a:solidFill>
            <a:srgbClr val="FF52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BC8B95-0ED1-C1AC-CC9D-2E481179AD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168" y="108519"/>
            <a:ext cx="2015222" cy="587112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FBE142E8-7BC2-AB0B-D3EB-E450AC1B40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5814" y="457813"/>
            <a:ext cx="238125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C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3"/>
          <p:cNvSpPr txBox="1"/>
          <p:nvPr/>
        </p:nvSpPr>
        <p:spPr>
          <a:xfrm>
            <a:off x="10731251" y="476250"/>
            <a:ext cx="879723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5B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UX Strategy</a:t>
            </a:r>
            <a:endParaRPr/>
          </a:p>
        </p:txBody>
      </p:sp>
      <p:sp>
        <p:nvSpPr>
          <p:cNvPr id="309" name="Google Shape;309;p23"/>
          <p:cNvSpPr/>
          <p:nvPr/>
        </p:nvSpPr>
        <p:spPr>
          <a:xfrm>
            <a:off x="1132433" y="3240583"/>
            <a:ext cx="9926835" cy="38100"/>
          </a:xfrm>
          <a:prstGeom prst="rect">
            <a:avLst/>
          </a:prstGeom>
          <a:solidFill>
            <a:srgbClr val="2D31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0" name="Google Shape;31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96913" y="2907208"/>
            <a:ext cx="704850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3"/>
          <p:cNvSpPr txBox="1"/>
          <p:nvPr/>
        </p:nvSpPr>
        <p:spPr>
          <a:xfrm>
            <a:off x="517605" y="3754933"/>
            <a:ext cx="266361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Canvas Prep</a:t>
            </a:r>
            <a:endParaRPr/>
          </a:p>
        </p:txBody>
      </p:sp>
      <p:sp>
        <p:nvSpPr>
          <p:cNvPr id="312" name="Google Shape;312;p23"/>
          <p:cNvSpPr txBox="1"/>
          <p:nvPr/>
        </p:nvSpPr>
        <p:spPr>
          <a:xfrm>
            <a:off x="581025" y="4002583"/>
            <a:ext cx="2536775" cy="34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Created a "Dashboard" sheet with a dark theme background to give it a premium look.</a:t>
            </a:r>
            <a:endParaRPr/>
          </a:p>
        </p:txBody>
      </p:sp>
      <p:pic>
        <p:nvPicPr>
          <p:cNvPr id="313" name="Google Shape;31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27921" y="2907208"/>
            <a:ext cx="704850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3"/>
          <p:cNvSpPr txBox="1"/>
          <p:nvPr/>
        </p:nvSpPr>
        <p:spPr>
          <a:xfrm>
            <a:off x="3348614" y="3754933"/>
            <a:ext cx="266361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Wireframing</a:t>
            </a:r>
            <a:endParaRPr/>
          </a:p>
        </p:txBody>
      </p:sp>
      <p:sp>
        <p:nvSpPr>
          <p:cNvPr id="315" name="Google Shape;315;p23"/>
          <p:cNvSpPr txBox="1"/>
          <p:nvPr/>
        </p:nvSpPr>
        <p:spPr>
          <a:xfrm>
            <a:off x="3412033" y="4002583"/>
            <a:ext cx="2536775" cy="51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Inserted custom rounded shapes to map out spots for Slicers, top KPIs, and primary charts.</a:t>
            </a:r>
            <a:endParaRPr/>
          </a:p>
        </p:txBody>
      </p:sp>
      <p:pic>
        <p:nvPicPr>
          <p:cNvPr id="316" name="Google Shape;316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58930" y="2907208"/>
            <a:ext cx="704850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3"/>
          <p:cNvSpPr txBox="1"/>
          <p:nvPr/>
        </p:nvSpPr>
        <p:spPr>
          <a:xfrm>
            <a:off x="6179622" y="3754933"/>
            <a:ext cx="266361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Alignment</a:t>
            </a:r>
            <a:endParaRPr/>
          </a:p>
        </p:txBody>
      </p:sp>
      <p:sp>
        <p:nvSpPr>
          <p:cNvPr id="318" name="Google Shape;318;p23"/>
          <p:cNvSpPr txBox="1"/>
          <p:nvPr/>
        </p:nvSpPr>
        <p:spPr>
          <a:xfrm>
            <a:off x="6243042" y="4002583"/>
            <a:ext cx="2536775" cy="34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Grouped layout containers cleanly, using cell links to map KPI values dynamically.</a:t>
            </a:r>
            <a:endParaRPr/>
          </a:p>
        </p:txBody>
      </p:sp>
      <p:pic>
        <p:nvPicPr>
          <p:cNvPr id="319" name="Google Shape;319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989939" y="2907208"/>
            <a:ext cx="704850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3"/>
          <p:cNvSpPr txBox="1"/>
          <p:nvPr/>
        </p:nvSpPr>
        <p:spPr>
          <a:xfrm>
            <a:off x="9010631" y="3754933"/>
            <a:ext cx="266361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Lock Assets</a:t>
            </a:r>
            <a:endParaRPr/>
          </a:p>
        </p:txBody>
      </p:sp>
      <p:sp>
        <p:nvSpPr>
          <p:cNvPr id="321" name="Google Shape;321;p23"/>
          <p:cNvSpPr txBox="1"/>
          <p:nvPr/>
        </p:nvSpPr>
        <p:spPr>
          <a:xfrm>
            <a:off x="9074050" y="4002583"/>
            <a:ext cx="2536775" cy="34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Exported aligned layouts as a flat background picture to prevent accidental adjustments.</a:t>
            </a:r>
            <a:endParaRPr/>
          </a:p>
        </p:txBody>
      </p:sp>
      <p:pic>
        <p:nvPicPr>
          <p:cNvPr id="322" name="Google Shape;322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35038" y="314533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80334" y="3145333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397055" y="314533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242351" y="3145333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3"/>
          <p:cNvSpPr txBox="1"/>
          <p:nvPr/>
        </p:nvSpPr>
        <p:spPr>
          <a:xfrm>
            <a:off x="723900" y="1311687"/>
            <a:ext cx="1143142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Dashboard Layout Workflow</a:t>
            </a:r>
            <a:endParaRPr dirty="0"/>
          </a:p>
        </p:txBody>
      </p:sp>
      <p:sp>
        <p:nvSpPr>
          <p:cNvPr id="327" name="Google Shape;327;p23"/>
          <p:cNvSpPr/>
          <p:nvPr/>
        </p:nvSpPr>
        <p:spPr>
          <a:xfrm>
            <a:off x="581025" y="1311687"/>
            <a:ext cx="47625" cy="400050"/>
          </a:xfrm>
          <a:prstGeom prst="rect">
            <a:avLst/>
          </a:prstGeom>
          <a:solidFill>
            <a:srgbClr val="FF52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34F469-E5BD-371D-8508-BFB745B8F87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5168" y="108519"/>
            <a:ext cx="2015222" cy="587112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8267E2DA-A349-117A-BC3E-BC713A07917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55743" y="427895"/>
            <a:ext cx="209550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C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719387"/>
            <a:ext cx="3517850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7000" y="2719387"/>
            <a:ext cx="3517850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2975" y="2719387"/>
            <a:ext cx="3517850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4"/>
          <p:cNvSpPr txBox="1"/>
          <p:nvPr/>
        </p:nvSpPr>
        <p:spPr>
          <a:xfrm>
            <a:off x="10738544" y="476250"/>
            <a:ext cx="87243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5B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Interactivity</a:t>
            </a:r>
            <a:endParaRPr/>
          </a:p>
        </p:txBody>
      </p:sp>
      <p:sp>
        <p:nvSpPr>
          <p:cNvPr id="338" name="Google Shape;338;p24"/>
          <p:cNvSpPr txBox="1"/>
          <p:nvPr/>
        </p:nvSpPr>
        <p:spPr>
          <a:xfrm>
            <a:off x="828675" y="3462337"/>
            <a:ext cx="165583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Multi-Field Filters</a:t>
            </a:r>
            <a:endParaRPr/>
          </a:p>
        </p:txBody>
      </p:sp>
      <p:sp>
        <p:nvSpPr>
          <p:cNvPr id="339" name="Google Shape;339;p24"/>
          <p:cNvSpPr txBox="1"/>
          <p:nvPr/>
        </p:nvSpPr>
        <p:spPr>
          <a:xfrm>
            <a:off x="828675" y="3776662"/>
            <a:ext cx="30225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Added custom Slicers for **State, Month, Food Type, and Category** to give users complete control over the views.</a:t>
            </a:r>
            <a:endParaRPr/>
          </a:p>
        </p:txBody>
      </p:sp>
      <p:sp>
        <p:nvSpPr>
          <p:cNvPr id="340" name="Google Shape;340;p24"/>
          <p:cNvSpPr txBox="1"/>
          <p:nvPr/>
        </p:nvSpPr>
        <p:spPr>
          <a:xfrm>
            <a:off x="4584650" y="3462337"/>
            <a:ext cx="111935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Visual Style</a:t>
            </a:r>
            <a:endParaRPr/>
          </a:p>
        </p:txBody>
      </p:sp>
      <p:sp>
        <p:nvSpPr>
          <p:cNvPr id="341" name="Google Shape;341;p24"/>
          <p:cNvSpPr txBox="1"/>
          <p:nvPr/>
        </p:nvSpPr>
        <p:spPr>
          <a:xfrm>
            <a:off x="4584650" y="3776662"/>
            <a:ext cx="30225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Restyled the slicers with a dark charcoal and orange theme, matching Swiggy's brand identity.</a:t>
            </a:r>
            <a:endParaRPr/>
          </a:p>
        </p:txBody>
      </p:sp>
      <p:sp>
        <p:nvSpPr>
          <p:cNvPr id="342" name="Google Shape;342;p24"/>
          <p:cNvSpPr txBox="1"/>
          <p:nvPr/>
        </p:nvSpPr>
        <p:spPr>
          <a:xfrm>
            <a:off x="8340625" y="3462337"/>
            <a:ext cx="167802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Grid Optimization</a:t>
            </a:r>
            <a:endParaRPr/>
          </a:p>
        </p:txBody>
      </p:sp>
      <p:sp>
        <p:nvSpPr>
          <p:cNvPr id="343" name="Google Shape;343;p24"/>
          <p:cNvSpPr txBox="1"/>
          <p:nvPr/>
        </p:nvSpPr>
        <p:spPr>
          <a:xfrm>
            <a:off x="8340625" y="3776662"/>
            <a:ext cx="30225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Configured the Month slicer with a **2-column layout** to save valuable vertical sidebar space.</a:t>
            </a:r>
            <a:endParaRPr/>
          </a:p>
        </p:txBody>
      </p:sp>
      <p:pic>
        <p:nvPicPr>
          <p:cNvPr id="344" name="Google Shape;344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8675" y="297656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84650" y="2976562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40625" y="297656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4"/>
          <p:cNvSpPr txBox="1"/>
          <p:nvPr/>
        </p:nvSpPr>
        <p:spPr>
          <a:xfrm>
            <a:off x="723900" y="1115041"/>
            <a:ext cx="1143142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Interactive Slicers UI</a:t>
            </a:r>
            <a:endParaRPr/>
          </a:p>
        </p:txBody>
      </p:sp>
      <p:sp>
        <p:nvSpPr>
          <p:cNvPr id="348" name="Google Shape;348;p24"/>
          <p:cNvSpPr/>
          <p:nvPr/>
        </p:nvSpPr>
        <p:spPr>
          <a:xfrm>
            <a:off x="581025" y="1115041"/>
            <a:ext cx="47625" cy="400050"/>
          </a:xfrm>
          <a:prstGeom prst="rect">
            <a:avLst/>
          </a:prstGeom>
          <a:solidFill>
            <a:srgbClr val="FF52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EF6688-F73E-1B1E-A427-E32B29D7BE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168" y="108519"/>
            <a:ext cx="2015222" cy="587112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499391C2-9AB5-B38B-1C4B-050AE85094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01453" y="442912"/>
            <a:ext cx="238125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C"/>
        </a:solidFill>
        <a:effectLst/>
      </p:bgPr>
    </p:bg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71737"/>
            <a:ext cx="5324475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471737"/>
            <a:ext cx="5324475" cy="2600325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5"/>
          <p:cNvSpPr txBox="1"/>
          <p:nvPr/>
        </p:nvSpPr>
        <p:spPr>
          <a:xfrm>
            <a:off x="10487025" y="476250"/>
            <a:ext cx="11239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5B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Under the Hood</a:t>
            </a:r>
            <a:endParaRPr/>
          </a:p>
        </p:txBody>
      </p:sp>
      <p:sp>
        <p:nvSpPr>
          <p:cNvPr id="358" name="Google Shape;358;p25"/>
          <p:cNvSpPr txBox="1"/>
          <p:nvPr/>
        </p:nvSpPr>
        <p:spPr>
          <a:xfrm>
            <a:off x="876300" y="2767012"/>
            <a:ext cx="497062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52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Synchronization Challenge</a:t>
            </a:r>
            <a:endParaRPr/>
          </a:p>
        </p:txBody>
      </p:sp>
      <p:sp>
        <p:nvSpPr>
          <p:cNvPr id="359" name="Google Shape;359;p25"/>
          <p:cNvSpPr txBox="1"/>
          <p:nvPr/>
        </p:nvSpPr>
        <p:spPr>
          <a:xfrm>
            <a:off x="876300" y="3176587"/>
            <a:ext cx="4733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By default, Excel slicers only connect to the specific Pivot Table they were created from.</a:t>
            </a:r>
            <a:endParaRPr/>
          </a:p>
        </p:txBody>
      </p:sp>
      <p:sp>
        <p:nvSpPr>
          <p:cNvPr id="360" name="Google Shape;360;p25"/>
          <p:cNvSpPr txBox="1"/>
          <p:nvPr/>
        </p:nvSpPr>
        <p:spPr>
          <a:xfrm>
            <a:off x="876300" y="3748087"/>
            <a:ext cx="4733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This leaves other visuals disconnected, showing a fragmented performance view.</a:t>
            </a:r>
            <a:endParaRPr/>
          </a:p>
        </p:txBody>
      </p:sp>
      <p:sp>
        <p:nvSpPr>
          <p:cNvPr id="361" name="Google Shape;361;p25"/>
          <p:cNvSpPr txBox="1"/>
          <p:nvPr/>
        </p:nvSpPr>
        <p:spPr>
          <a:xfrm>
            <a:off x="6581775" y="2767012"/>
            <a:ext cx="497062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52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Exception Connection Logic</a:t>
            </a:r>
            <a:endParaRPr/>
          </a:p>
        </p:txBody>
      </p:sp>
      <p:sp>
        <p:nvSpPr>
          <p:cNvPr id="362" name="Google Shape;362;p25"/>
          <p:cNvSpPr txBox="1"/>
          <p:nvPr/>
        </p:nvSpPr>
        <p:spPr>
          <a:xfrm>
            <a:off x="6581775" y="3176587"/>
            <a:ext cx="4733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Mapped report connections across all target pivot components while applying exception logic:</a:t>
            </a:r>
            <a:endParaRPr/>
          </a:p>
        </p:txBody>
      </p:sp>
      <p:sp>
        <p:nvSpPr>
          <p:cNvPr id="363" name="Google Shape;363;p25"/>
          <p:cNvSpPr txBox="1"/>
          <p:nvPr/>
        </p:nvSpPr>
        <p:spPr>
          <a:xfrm>
            <a:off x="6581775" y="3748087"/>
            <a:ext cx="47339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Exception 1:</a:t>
            </a:r>
            <a:r>
              <a:rPr lang="en-US" sz="1050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 Excluded Month filters from the Monthly Sales Trend Line Chart (this keeps the monthly trend line from breaking into a single dot).</a:t>
            </a:r>
            <a:endParaRPr/>
          </a:p>
        </p:txBody>
      </p:sp>
      <p:sp>
        <p:nvSpPr>
          <p:cNvPr id="364" name="Google Shape;364;p25"/>
          <p:cNvSpPr txBox="1"/>
          <p:nvPr/>
        </p:nvSpPr>
        <p:spPr>
          <a:xfrm>
            <a:off x="6581775" y="4262437"/>
            <a:ext cx="47339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Exception 2:</a:t>
            </a:r>
            <a:r>
              <a:rPr lang="en-US" sz="1050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 Excluded Food Type filters from the dietary preference Donut Chart.</a:t>
            </a:r>
            <a:endParaRPr/>
          </a:p>
        </p:txBody>
      </p:sp>
      <p:sp>
        <p:nvSpPr>
          <p:cNvPr id="365" name="Google Shape;365;p25"/>
          <p:cNvSpPr txBox="1"/>
          <p:nvPr/>
        </p:nvSpPr>
        <p:spPr>
          <a:xfrm>
            <a:off x="723900" y="1115041"/>
            <a:ext cx="1143142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Report Connections</a:t>
            </a:r>
            <a:endParaRPr/>
          </a:p>
        </p:txBody>
      </p:sp>
      <p:sp>
        <p:nvSpPr>
          <p:cNvPr id="366" name="Google Shape;366;p25"/>
          <p:cNvSpPr/>
          <p:nvPr/>
        </p:nvSpPr>
        <p:spPr>
          <a:xfrm>
            <a:off x="581025" y="1115041"/>
            <a:ext cx="47625" cy="400050"/>
          </a:xfrm>
          <a:prstGeom prst="rect">
            <a:avLst/>
          </a:prstGeom>
          <a:solidFill>
            <a:srgbClr val="FF52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F31CA7-E99A-2143-EFCF-A12ABD58D4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168" y="108519"/>
            <a:ext cx="2015222" cy="587112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44EAE1F6-B8CC-0372-5B71-291C14B46F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21696" y="428319"/>
            <a:ext cx="266700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C"/>
        </a:soli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614612"/>
            <a:ext cx="2614612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86137" y="2614612"/>
            <a:ext cx="2614612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2614612"/>
            <a:ext cx="2614612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96362" y="2614612"/>
            <a:ext cx="2614612" cy="1209675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26"/>
          <p:cNvSpPr txBox="1"/>
          <p:nvPr/>
        </p:nvSpPr>
        <p:spPr>
          <a:xfrm>
            <a:off x="10493871" y="476250"/>
            <a:ext cx="1117103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5B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Value Summary</a:t>
            </a:r>
            <a:endParaRPr/>
          </a:p>
        </p:txBody>
      </p:sp>
      <p:sp>
        <p:nvSpPr>
          <p:cNvPr id="378" name="Google Shape;378;p26"/>
          <p:cNvSpPr txBox="1"/>
          <p:nvPr/>
        </p:nvSpPr>
        <p:spPr>
          <a:xfrm>
            <a:off x="581025" y="4110037"/>
            <a:ext cx="110299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Insights:</a:t>
            </a:r>
            <a:r>
              <a:rPr lang="en-US" sz="1125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 1. **Temporal Trends:** Saturdays and Sundays see major surges, while weekdays (Mondays/Tuesdays) experience dips. 2. **Dietary split:** Veg items contribute **64%** of revenue, significantly outperforming Non-Veg (36%). 3. **Geographic focus:** Bengaluru leads sales, followed closely by Lucknow, Hyderabad, and Mumbai.</a:t>
            </a:r>
            <a:endParaRPr/>
          </a:p>
        </p:txBody>
      </p:sp>
      <p:sp>
        <p:nvSpPr>
          <p:cNvPr id="379" name="Google Shape;379;p26"/>
          <p:cNvSpPr txBox="1"/>
          <p:nvPr/>
        </p:nvSpPr>
        <p:spPr>
          <a:xfrm>
            <a:off x="581025" y="4795837"/>
            <a:ext cx="110299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F5200"/>
                </a:solidFill>
                <a:latin typeface="Arial"/>
                <a:ea typeface="Arial"/>
                <a:cs typeface="Arial"/>
                <a:sym typeface="Arial"/>
              </a:rPr>
              <a:t>Regional Analysis Reference: Screenshot 2026-06-18 141852.png &amp; Screenshot 2026-06-18 141304.png</a:t>
            </a:r>
            <a:endParaRPr/>
          </a:p>
        </p:txBody>
      </p:sp>
      <p:sp>
        <p:nvSpPr>
          <p:cNvPr id="380" name="Google Shape;380;p26"/>
          <p:cNvSpPr txBox="1"/>
          <p:nvPr/>
        </p:nvSpPr>
        <p:spPr>
          <a:xfrm>
            <a:off x="828675" y="2890837"/>
            <a:ext cx="211931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₹53M+</a:t>
            </a:r>
            <a:endParaRPr/>
          </a:p>
        </p:txBody>
      </p:sp>
      <p:sp>
        <p:nvSpPr>
          <p:cNvPr id="381" name="Google Shape;381;p26"/>
          <p:cNvSpPr txBox="1"/>
          <p:nvPr/>
        </p:nvSpPr>
        <p:spPr>
          <a:xfrm>
            <a:off x="828675" y="3433762"/>
            <a:ext cx="2119312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TOTAL PERIOD SALES</a:t>
            </a:r>
            <a:endParaRPr/>
          </a:p>
        </p:txBody>
      </p:sp>
      <p:sp>
        <p:nvSpPr>
          <p:cNvPr id="382" name="Google Shape;382;p26"/>
          <p:cNvSpPr txBox="1"/>
          <p:nvPr/>
        </p:nvSpPr>
        <p:spPr>
          <a:xfrm>
            <a:off x="3633787" y="2890837"/>
            <a:ext cx="211931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19.74M</a:t>
            </a:r>
            <a:endParaRPr/>
          </a:p>
        </p:txBody>
      </p:sp>
      <p:sp>
        <p:nvSpPr>
          <p:cNvPr id="383" name="Google Shape;383;p26"/>
          <p:cNvSpPr txBox="1"/>
          <p:nvPr/>
        </p:nvSpPr>
        <p:spPr>
          <a:xfrm>
            <a:off x="3633787" y="3348037"/>
            <a:ext cx="2119312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FULFILLMENTS</a:t>
            </a:r>
            <a:endParaRPr/>
          </a:p>
        </p:txBody>
      </p:sp>
      <p:sp>
        <p:nvSpPr>
          <p:cNvPr id="384" name="Google Shape;384;p26"/>
          <p:cNvSpPr txBox="1"/>
          <p:nvPr/>
        </p:nvSpPr>
        <p:spPr>
          <a:xfrm>
            <a:off x="6438900" y="2890837"/>
            <a:ext cx="211931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₹268</a:t>
            </a:r>
            <a:endParaRPr/>
          </a:p>
        </p:txBody>
      </p:sp>
      <p:sp>
        <p:nvSpPr>
          <p:cNvPr id="385" name="Google Shape;385;p26"/>
          <p:cNvSpPr txBox="1"/>
          <p:nvPr/>
        </p:nvSpPr>
        <p:spPr>
          <a:xfrm>
            <a:off x="6438900" y="3433762"/>
            <a:ext cx="2119312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AVG ORDER VALUE</a:t>
            </a:r>
            <a:endParaRPr/>
          </a:p>
        </p:txBody>
      </p:sp>
      <p:sp>
        <p:nvSpPr>
          <p:cNvPr id="386" name="Google Shape;386;p26"/>
          <p:cNvSpPr txBox="1"/>
          <p:nvPr/>
        </p:nvSpPr>
        <p:spPr>
          <a:xfrm>
            <a:off x="9244012" y="2890837"/>
            <a:ext cx="211931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4.34★</a:t>
            </a:r>
            <a:endParaRPr/>
          </a:p>
        </p:txBody>
      </p:sp>
      <p:sp>
        <p:nvSpPr>
          <p:cNvPr id="387" name="Google Shape;387;p26"/>
          <p:cNvSpPr txBox="1"/>
          <p:nvPr/>
        </p:nvSpPr>
        <p:spPr>
          <a:xfrm>
            <a:off x="9244012" y="3424237"/>
            <a:ext cx="2119312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AVG CUSTOMER RATING</a:t>
            </a:r>
            <a:endParaRPr/>
          </a:p>
        </p:txBody>
      </p:sp>
      <p:sp>
        <p:nvSpPr>
          <p:cNvPr id="388" name="Google Shape;388;p26"/>
          <p:cNvSpPr txBox="1"/>
          <p:nvPr/>
        </p:nvSpPr>
        <p:spPr>
          <a:xfrm>
            <a:off x="723900" y="1183867"/>
            <a:ext cx="1143142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Key Performance Takeaways</a:t>
            </a:r>
            <a:endParaRPr/>
          </a:p>
        </p:txBody>
      </p:sp>
      <p:sp>
        <p:nvSpPr>
          <p:cNvPr id="389" name="Google Shape;389;p26"/>
          <p:cNvSpPr/>
          <p:nvPr/>
        </p:nvSpPr>
        <p:spPr>
          <a:xfrm>
            <a:off x="581025" y="1183867"/>
            <a:ext cx="47625" cy="400050"/>
          </a:xfrm>
          <a:prstGeom prst="rect">
            <a:avLst/>
          </a:prstGeom>
          <a:solidFill>
            <a:srgbClr val="FF52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DA3F47-214A-630D-A7D4-8A7C2D48E6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168" y="108519"/>
            <a:ext cx="2015222" cy="587112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5928E9D6-7AF6-2E58-78F4-3E83B610B2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84605" y="442912"/>
            <a:ext cx="238125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C"/>
        </a:solidFill>
        <a:effectLst/>
      </p:bgPr>
    </p:bg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40781"/>
            <a:ext cx="11029950" cy="2662237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27"/>
          <p:cNvSpPr txBox="1"/>
          <p:nvPr/>
        </p:nvSpPr>
        <p:spPr>
          <a:xfrm>
            <a:off x="10879335" y="476250"/>
            <a:ext cx="731639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5B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Summary</a:t>
            </a:r>
            <a:endParaRPr/>
          </a:p>
        </p:txBody>
      </p:sp>
      <p:graphicFrame>
        <p:nvGraphicFramePr>
          <p:cNvPr id="398" name="Google Shape;398;p27"/>
          <p:cNvGraphicFramePr/>
          <p:nvPr/>
        </p:nvGraphicFramePr>
        <p:xfrm>
          <a:off x="590550" y="2450306"/>
          <a:ext cx="11010900" cy="2643150"/>
        </p:xfrm>
        <a:graphic>
          <a:graphicData uri="http://schemas.openxmlformats.org/drawingml/2006/table">
            <a:tbl>
              <a:tblPr firstRow="1" bandRow="1">
                <a:noFill/>
                <a:tableStyleId>{C225E2EE-A203-490D-9E88-24966818BAD0}</a:tableStyleId>
              </a:tblPr>
              <a:tblGrid>
                <a:gridCol w="200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31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Category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1E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Specific Tools / Formulas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1E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Strategic Application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1E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Preparation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Structured Tables, Ctrl + 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Created dynamic reference ranges to handle 1.97M rows.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Transformation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8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TEXT(), MONTH(), ROUNDUP()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8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Engineered Day, Month, and Quarter dimensions.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8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Aggregations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Pivot Tables, Pivot Charts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Consolidated database parameters into clean visual summaries.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Dynamic Ranges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8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OFFSET(), COUNTA()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8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Bypassed pivot limits to feed data to Maps and Treemaps.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8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Interactivity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Slicers, Report Connections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A0A5B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Linked filters dynamically across the entire visual layout.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99" name="Google Shape;399;p27"/>
          <p:cNvSpPr/>
          <p:nvPr/>
        </p:nvSpPr>
        <p:spPr>
          <a:xfrm>
            <a:off x="590550" y="2883693"/>
            <a:ext cx="2000994" cy="19050"/>
          </a:xfrm>
          <a:prstGeom prst="rect">
            <a:avLst/>
          </a:prstGeom>
          <a:solidFill>
            <a:srgbClr val="2D31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7"/>
          <p:cNvSpPr/>
          <p:nvPr/>
        </p:nvSpPr>
        <p:spPr>
          <a:xfrm>
            <a:off x="2591544" y="2883693"/>
            <a:ext cx="3178819" cy="19050"/>
          </a:xfrm>
          <a:prstGeom prst="rect">
            <a:avLst/>
          </a:prstGeom>
          <a:solidFill>
            <a:srgbClr val="2D31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7"/>
          <p:cNvSpPr/>
          <p:nvPr/>
        </p:nvSpPr>
        <p:spPr>
          <a:xfrm>
            <a:off x="5770364" y="2883693"/>
            <a:ext cx="5831085" cy="19050"/>
          </a:xfrm>
          <a:prstGeom prst="rect">
            <a:avLst/>
          </a:prstGeom>
          <a:solidFill>
            <a:srgbClr val="2D31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7"/>
          <p:cNvSpPr/>
          <p:nvPr/>
        </p:nvSpPr>
        <p:spPr>
          <a:xfrm>
            <a:off x="590550" y="3336131"/>
            <a:ext cx="2000994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7"/>
          <p:cNvSpPr/>
          <p:nvPr/>
        </p:nvSpPr>
        <p:spPr>
          <a:xfrm>
            <a:off x="2591544" y="3336131"/>
            <a:ext cx="3178819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7"/>
          <p:cNvSpPr/>
          <p:nvPr/>
        </p:nvSpPr>
        <p:spPr>
          <a:xfrm>
            <a:off x="5770364" y="3336131"/>
            <a:ext cx="5831085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7"/>
          <p:cNvSpPr/>
          <p:nvPr/>
        </p:nvSpPr>
        <p:spPr>
          <a:xfrm>
            <a:off x="590550" y="3774281"/>
            <a:ext cx="2000994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7"/>
          <p:cNvSpPr/>
          <p:nvPr/>
        </p:nvSpPr>
        <p:spPr>
          <a:xfrm>
            <a:off x="2591544" y="3774281"/>
            <a:ext cx="3178819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7"/>
          <p:cNvSpPr/>
          <p:nvPr/>
        </p:nvSpPr>
        <p:spPr>
          <a:xfrm>
            <a:off x="5770364" y="3774281"/>
            <a:ext cx="5831085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7"/>
          <p:cNvSpPr/>
          <p:nvPr/>
        </p:nvSpPr>
        <p:spPr>
          <a:xfrm>
            <a:off x="590550" y="4212431"/>
            <a:ext cx="2000994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7"/>
          <p:cNvSpPr/>
          <p:nvPr/>
        </p:nvSpPr>
        <p:spPr>
          <a:xfrm>
            <a:off x="2591544" y="4212431"/>
            <a:ext cx="3178819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7"/>
          <p:cNvSpPr/>
          <p:nvPr/>
        </p:nvSpPr>
        <p:spPr>
          <a:xfrm>
            <a:off x="5770364" y="4212431"/>
            <a:ext cx="5831085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7"/>
          <p:cNvSpPr/>
          <p:nvPr/>
        </p:nvSpPr>
        <p:spPr>
          <a:xfrm>
            <a:off x="590550" y="4650581"/>
            <a:ext cx="2000994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7"/>
          <p:cNvSpPr/>
          <p:nvPr/>
        </p:nvSpPr>
        <p:spPr>
          <a:xfrm>
            <a:off x="2591544" y="4650581"/>
            <a:ext cx="3178819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7"/>
          <p:cNvSpPr/>
          <p:nvPr/>
        </p:nvSpPr>
        <p:spPr>
          <a:xfrm>
            <a:off x="5770364" y="4650581"/>
            <a:ext cx="5831085" cy="9525"/>
          </a:xfrm>
          <a:prstGeom prst="rect">
            <a:avLst/>
          </a:prstGeom>
          <a:solidFill>
            <a:srgbClr val="1C1E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7"/>
          <p:cNvSpPr txBox="1"/>
          <p:nvPr/>
        </p:nvSpPr>
        <p:spPr>
          <a:xfrm>
            <a:off x="723900" y="1056047"/>
            <a:ext cx="1143142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Technical Stack Summary</a:t>
            </a:r>
            <a:endParaRPr/>
          </a:p>
        </p:txBody>
      </p:sp>
      <p:sp>
        <p:nvSpPr>
          <p:cNvPr id="415" name="Google Shape;415;p27"/>
          <p:cNvSpPr/>
          <p:nvPr/>
        </p:nvSpPr>
        <p:spPr>
          <a:xfrm>
            <a:off x="581025" y="1056047"/>
            <a:ext cx="47625" cy="400050"/>
          </a:xfrm>
          <a:prstGeom prst="rect">
            <a:avLst/>
          </a:prstGeom>
          <a:solidFill>
            <a:srgbClr val="FF52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999EBC-BA6E-3536-9522-1CEB2C1C5E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168" y="108519"/>
            <a:ext cx="2015222" cy="587112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54FF8462-65B4-257A-0E4D-E9971679C4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3057" y="434540"/>
            <a:ext cx="209550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C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28"/>
          <p:cNvSpPr txBox="1"/>
          <p:nvPr/>
        </p:nvSpPr>
        <p:spPr>
          <a:xfrm>
            <a:off x="10605194" y="476250"/>
            <a:ext cx="100578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5B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Retrospective</a:t>
            </a:r>
            <a:endParaRPr/>
          </a:p>
        </p:txBody>
      </p:sp>
      <p:sp>
        <p:nvSpPr>
          <p:cNvPr id="423" name="Google Shape;423;p28"/>
          <p:cNvSpPr txBox="1"/>
          <p:nvPr/>
        </p:nvSpPr>
        <p:spPr>
          <a:xfrm>
            <a:off x="914400" y="2743200"/>
            <a:ext cx="106965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Preparation is 70% of the Work:</a:t>
            </a:r>
            <a:r>
              <a:rPr lang="en-US" sz="1200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 Unstructured databases require thorough cleaning before you can build reliable, accurate metrics.</a:t>
            </a:r>
            <a:endParaRPr/>
          </a:p>
        </p:txBody>
      </p:sp>
      <p:sp>
        <p:nvSpPr>
          <p:cNvPr id="424" name="Google Shape;424;p28"/>
          <p:cNvSpPr txBox="1"/>
          <p:nvPr/>
        </p:nvSpPr>
        <p:spPr>
          <a:xfrm>
            <a:off x="914400" y="3143250"/>
            <a:ext cx="106965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Scalability Matters:</a:t>
            </a:r>
            <a:r>
              <a:rPr lang="en-US" sz="1200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 Using native Excel features like Tables and Pivot Models allows you to analyze massive datasets seamlessly without performance slowdowns.</a:t>
            </a:r>
            <a:endParaRPr/>
          </a:p>
        </p:txBody>
      </p:sp>
      <p:sp>
        <p:nvSpPr>
          <p:cNvPr id="425" name="Google Shape;425;p28"/>
          <p:cNvSpPr txBox="1"/>
          <p:nvPr/>
        </p:nvSpPr>
        <p:spPr>
          <a:xfrm>
            <a:off x="914400" y="3771900"/>
            <a:ext cx="106965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User Experience Drives Adoption:</a:t>
            </a:r>
            <a:r>
              <a:rPr lang="en-US" sz="1200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 Designing simple interactive filters (like slicers) makes data accessible to business leaders, reducing friction.</a:t>
            </a:r>
            <a:endParaRPr/>
          </a:p>
        </p:txBody>
      </p:sp>
      <p:sp>
        <p:nvSpPr>
          <p:cNvPr id="426" name="Google Shape;426;p28"/>
          <p:cNvSpPr txBox="1"/>
          <p:nvPr/>
        </p:nvSpPr>
        <p:spPr>
          <a:xfrm>
            <a:off x="914400" y="4171950"/>
            <a:ext cx="106965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Creative Troubleshooting:</a:t>
            </a:r>
            <a:r>
              <a:rPr lang="en-US" sz="1200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 When standard tools have limits (like direct Pivot Map charts), using dynamic bypasses like the OFFSET formula solves the problem.</a:t>
            </a:r>
            <a:endParaRPr/>
          </a:p>
        </p:txBody>
      </p:sp>
      <p:pic>
        <p:nvPicPr>
          <p:cNvPr id="427" name="Google Shape;427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77653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17658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80523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205287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28"/>
          <p:cNvSpPr txBox="1"/>
          <p:nvPr/>
        </p:nvSpPr>
        <p:spPr>
          <a:xfrm>
            <a:off x="723900" y="1115037"/>
            <a:ext cx="1143142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Key Learnings &amp; Takeaways</a:t>
            </a:r>
            <a:endParaRPr dirty="0"/>
          </a:p>
        </p:txBody>
      </p:sp>
      <p:sp>
        <p:nvSpPr>
          <p:cNvPr id="432" name="Google Shape;432;p28"/>
          <p:cNvSpPr/>
          <p:nvPr/>
        </p:nvSpPr>
        <p:spPr>
          <a:xfrm>
            <a:off x="581025" y="1115037"/>
            <a:ext cx="47625" cy="400050"/>
          </a:xfrm>
          <a:prstGeom prst="rect">
            <a:avLst/>
          </a:prstGeom>
          <a:solidFill>
            <a:srgbClr val="FF52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7C5DB4-8A0A-2125-E73A-0D0F16B94E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168" y="108519"/>
            <a:ext cx="2015222" cy="587112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9F2A965A-9734-8645-86D8-864C068CA2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0006" y="440603"/>
            <a:ext cx="266700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C"/>
        </a:solidFill>
        <a:effectLst/>
      </p:bgPr>
    </p:bg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Google Shape;437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719387"/>
            <a:ext cx="3517850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7000" y="2719387"/>
            <a:ext cx="3517850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2975" y="2719387"/>
            <a:ext cx="3517850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29"/>
          <p:cNvSpPr txBox="1"/>
          <p:nvPr/>
        </p:nvSpPr>
        <p:spPr>
          <a:xfrm>
            <a:off x="10797926" y="476250"/>
            <a:ext cx="813048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5B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Scaling Up</a:t>
            </a:r>
            <a:endParaRPr/>
          </a:p>
        </p:txBody>
      </p:sp>
      <p:sp>
        <p:nvSpPr>
          <p:cNvPr id="443" name="Google Shape;443;p29"/>
          <p:cNvSpPr txBox="1"/>
          <p:nvPr/>
        </p:nvSpPr>
        <p:spPr>
          <a:xfrm>
            <a:off x="828675" y="3462337"/>
            <a:ext cx="171208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Delivery Logistics</a:t>
            </a:r>
            <a:endParaRPr/>
          </a:p>
        </p:txBody>
      </p:sp>
      <p:sp>
        <p:nvSpPr>
          <p:cNvPr id="444" name="Google Shape;444;p29"/>
          <p:cNvSpPr txBox="1"/>
          <p:nvPr/>
        </p:nvSpPr>
        <p:spPr>
          <a:xfrm>
            <a:off x="828675" y="3776662"/>
            <a:ext cx="30225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Analyze dispatch logs and average customer wait times to optimize rider allocation during peak weekend hours.</a:t>
            </a:r>
            <a:endParaRPr/>
          </a:p>
        </p:txBody>
      </p:sp>
      <p:sp>
        <p:nvSpPr>
          <p:cNvPr id="445" name="Google Shape;445;p29"/>
          <p:cNvSpPr txBox="1"/>
          <p:nvPr/>
        </p:nvSpPr>
        <p:spPr>
          <a:xfrm>
            <a:off x="4584650" y="3462337"/>
            <a:ext cx="178912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Discount Modeling</a:t>
            </a:r>
            <a:endParaRPr/>
          </a:p>
        </p:txBody>
      </p:sp>
      <p:sp>
        <p:nvSpPr>
          <p:cNvPr id="446" name="Google Shape;446;p29"/>
          <p:cNvSpPr txBox="1"/>
          <p:nvPr/>
        </p:nvSpPr>
        <p:spPr>
          <a:xfrm>
            <a:off x="4584650" y="3776662"/>
            <a:ext cx="30225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Track the impact of promo campaigns on weekday orders (especially Monday and Tuesday) to help stabilize demand.</a:t>
            </a:r>
            <a:endParaRPr/>
          </a:p>
        </p:txBody>
      </p:sp>
      <p:sp>
        <p:nvSpPr>
          <p:cNvPr id="447" name="Google Shape;447;p29"/>
          <p:cNvSpPr txBox="1"/>
          <p:nvPr/>
        </p:nvSpPr>
        <p:spPr>
          <a:xfrm>
            <a:off x="8340625" y="3462337"/>
            <a:ext cx="181147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Power BI Migration</a:t>
            </a:r>
            <a:endParaRPr/>
          </a:p>
        </p:txBody>
      </p:sp>
      <p:sp>
        <p:nvSpPr>
          <p:cNvPr id="448" name="Google Shape;448;p29"/>
          <p:cNvSpPr txBox="1"/>
          <p:nvPr/>
        </p:nvSpPr>
        <p:spPr>
          <a:xfrm>
            <a:off x="8340625" y="3776662"/>
            <a:ext cx="30225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Migrate the spreadsheet architecture into a cloud-hosted Power BI dashboard for real-time automated updates.</a:t>
            </a:r>
            <a:endParaRPr/>
          </a:p>
        </p:txBody>
      </p:sp>
      <p:pic>
        <p:nvPicPr>
          <p:cNvPr id="449" name="Google Shape;449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8675" y="297656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84650" y="2976562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2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40625" y="297656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29"/>
          <p:cNvSpPr txBox="1"/>
          <p:nvPr/>
        </p:nvSpPr>
        <p:spPr>
          <a:xfrm>
            <a:off x="723900" y="1174035"/>
            <a:ext cx="1143142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Future Expansion Scope</a:t>
            </a:r>
            <a:endParaRPr/>
          </a:p>
        </p:txBody>
      </p:sp>
      <p:sp>
        <p:nvSpPr>
          <p:cNvPr id="453" name="Google Shape;453;p29"/>
          <p:cNvSpPr/>
          <p:nvPr/>
        </p:nvSpPr>
        <p:spPr>
          <a:xfrm>
            <a:off x="581025" y="1174035"/>
            <a:ext cx="47625" cy="400050"/>
          </a:xfrm>
          <a:prstGeom prst="rect">
            <a:avLst/>
          </a:prstGeom>
          <a:solidFill>
            <a:srgbClr val="FF52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32CCF6-FEB3-47C1-860E-91B58C6075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168" y="108519"/>
            <a:ext cx="2015222" cy="587112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E01AC4A4-7EA2-F48C-53AF-B030EB8F0D5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94399" y="442912"/>
            <a:ext cx="209550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C"/>
        </a:solidFill>
        <a:effectLst/>
      </p:bgPr>
    </p:bg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Google Shape;458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45322" y="4214812"/>
            <a:ext cx="3701355" cy="9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30"/>
          <p:cNvSpPr txBox="1"/>
          <p:nvPr/>
        </p:nvSpPr>
        <p:spPr>
          <a:xfrm>
            <a:off x="4650666" y="2481262"/>
            <a:ext cx="3755915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 dirty="0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Thank</a:t>
            </a:r>
            <a:r>
              <a:rPr lang="en-US" sz="4050" b="0" i="0" u="none" strike="noStrike" cap="none" dirty="0">
                <a:solidFill>
                  <a:srgbClr val="FF52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You</a:t>
            </a:r>
            <a:r>
              <a:rPr lang="en-US" sz="4050" b="0" i="0" u="none" strike="noStrike" cap="none" dirty="0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!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461" name="Google Shape;461;p30"/>
          <p:cNvSpPr txBox="1"/>
          <p:nvPr/>
        </p:nvSpPr>
        <p:spPr>
          <a:xfrm>
            <a:off x="2524125" y="3262312"/>
            <a:ext cx="7143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Let's translate complex database parameters into clear, actionable business stories together.</a:t>
            </a:r>
            <a:endParaRPr dirty="0"/>
          </a:p>
        </p:txBody>
      </p:sp>
      <p:sp>
        <p:nvSpPr>
          <p:cNvPr id="463" name="Google Shape;463;p30"/>
          <p:cNvSpPr txBox="1"/>
          <p:nvPr/>
        </p:nvSpPr>
        <p:spPr>
          <a:xfrm>
            <a:off x="4731097" y="4491037"/>
            <a:ext cx="272980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0A5B5"/>
                </a:solidFill>
                <a:latin typeface="Lato"/>
                <a:ea typeface="Lato"/>
                <a:cs typeface="Lato"/>
                <a:sym typeface="Lato"/>
              </a:rPr>
              <a:t>LET'S CONNECT</a:t>
            </a:r>
            <a:endParaRPr/>
          </a:p>
        </p:txBody>
      </p:sp>
      <p:sp>
        <p:nvSpPr>
          <p:cNvPr id="464" name="Google Shape;464;p30"/>
          <p:cNvSpPr txBox="1"/>
          <p:nvPr/>
        </p:nvSpPr>
        <p:spPr>
          <a:xfrm>
            <a:off x="5023054" y="4484655"/>
            <a:ext cx="27298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linkedin.com/in/</a:t>
            </a:r>
            <a:r>
              <a:rPr lang="en-US" sz="15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adityaanalyst09</a:t>
            </a:r>
            <a:endParaRPr dirty="0"/>
          </a:p>
        </p:txBody>
      </p:sp>
      <p:pic>
        <p:nvPicPr>
          <p:cNvPr id="465" name="Google Shape;465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31097" y="4700587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628E3D9-1F43-2882-15F8-C3E5EC3B75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1898" y="597032"/>
            <a:ext cx="7442408" cy="21682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1399</Words>
  <Application>Microsoft Office PowerPoint</Application>
  <PresentationFormat>Widescreen</PresentationFormat>
  <Paragraphs>210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Poppins</vt:lpstr>
      <vt:lpstr>Poppins SemiBold</vt:lpstr>
      <vt:lpstr>Calibri</vt:lpstr>
      <vt:lpstr>Lato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Aditya Vishwakarma</dc:creator>
  <cp:lastModifiedBy>Aditya Vishwakarma</cp:lastModifiedBy>
  <cp:revision>2</cp:revision>
  <dcterms:modified xsi:type="dcterms:W3CDTF">2026-07-19T05:58:10Z</dcterms:modified>
</cp:coreProperties>
</file>